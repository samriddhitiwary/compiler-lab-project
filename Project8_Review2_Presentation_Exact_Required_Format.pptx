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498079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2A4C"/>
                </a:solidFill>
                <a:latin typeface="Arial"/>
              </a:rPr>
              <a:t>SCHOOL OF COMPUTER SCIENCE AND ENGINEERING (SCOPE)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5943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2658AB"/>
                </a:solidFill>
                <a:latin typeface="Arial"/>
              </a:rPr>
              <a:t>BCSE307P COMPILER DESIGN LAB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89611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dirty="0">
                <a:solidFill>
                  <a:srgbClr val="122A4C"/>
                </a:solidFill>
                <a:latin typeface="Arial"/>
              </a:rPr>
              <a:t>Interactive GUI for Operator Precedence Parsing
and Conversion of RE to DFA using Direct 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658AB"/>
                </a:solidFill>
                <a:latin typeface="Arial"/>
              </a:rPr>
              <a:t>PROJECT REVIEW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5669280" cy="16002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4041648"/>
            <a:ext cx="292608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22A4C"/>
                </a:solidFill>
                <a:latin typeface="Arial"/>
              </a:rPr>
              <a:t>Samriddhi Tiwary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43984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606978"/>
                </a:solidFill>
                <a:latin typeface="Arial"/>
              </a:rPr>
              <a:t>23BCE0661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809744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06978"/>
                </a:solidFill>
                <a:latin typeface="Arial"/>
              </a:rPr>
              <a:t>Vellore Institute of Technology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2.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Introduction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440680" cy="41605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2A4C"/>
                </a:solidFill>
                <a:latin typeface="Arial"/>
              </a:rPr>
              <a:t>Project context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606040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487168"/>
            <a:ext cx="45079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330"/>
                </a:solidFill>
                <a:latin typeface="Arial"/>
              </a:rPr>
              <a:t>Operator-precedence parsing is a bottom-up parsing technique for a restricted class of operator grammars.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209544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090672"/>
            <a:ext cx="45079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330"/>
                </a:solidFill>
                <a:latin typeface="Arial"/>
              </a:rPr>
              <a:t>Review 1 implemented grammar validation, LEADING/TRAILING computation, precedence-table construction, and conflict detection.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813048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3694176"/>
            <a:ext cx="45079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330"/>
                </a:solidFill>
                <a:latin typeface="Arial"/>
              </a:rPr>
              <a:t>Review 2 extends the same system toward complete step-by-step string parsing using the generated precedence table.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16552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297680"/>
            <a:ext cx="4507992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0">
                <a:solidFill>
                  <a:srgbClr val="1C2330"/>
                </a:solidFill>
                <a:latin typeface="Arial"/>
              </a:rPr>
              <a:t>The parser is designed to derive its behavior from the user-entered grammar rather than from hard-coded E/T/F rules.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783080"/>
            <a:ext cx="5166360" cy="4160520"/>
          </a:xfrm>
          <a:prstGeom prst="roundRect">
            <a:avLst/>
          </a:prstGeom>
          <a:solidFill>
            <a:srgbClr val="E8EFFB"/>
          </a:solidFill>
          <a:ln w="1270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011680"/>
            <a:ext cx="2560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22A4C"/>
                </a:solidFill>
                <a:latin typeface="Arial"/>
              </a:rPr>
              <a:t>Review 2 emphasis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2697479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0568" y="2578608"/>
            <a:ext cx="41422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C2330"/>
                </a:solidFill>
                <a:latin typeface="Arial"/>
              </a:rPr>
              <a:t>Generic tokenization</a:t>
            </a:r>
          </a:p>
        </p:txBody>
      </p:sp>
      <p:sp>
        <p:nvSpPr>
          <p:cNvPr id="20" name="Oval 19"/>
          <p:cNvSpPr/>
          <p:nvPr/>
        </p:nvSpPr>
        <p:spPr>
          <a:xfrm>
            <a:off x="6629400" y="3182111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30568" y="3063239"/>
            <a:ext cx="41422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C2330"/>
                </a:solidFill>
                <a:latin typeface="Arial"/>
              </a:rPr>
              <a:t>Topmost-terminal comparison</a:t>
            </a:r>
          </a:p>
        </p:txBody>
      </p:sp>
      <p:sp>
        <p:nvSpPr>
          <p:cNvPr id="22" name="Oval 21"/>
          <p:cNvSpPr/>
          <p:nvPr/>
        </p:nvSpPr>
        <p:spPr>
          <a:xfrm>
            <a:off x="6629400" y="3666744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30568" y="3547872"/>
            <a:ext cx="41422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C2330"/>
                </a:solidFill>
                <a:latin typeface="Arial"/>
              </a:rPr>
              <a:t>SHIFT / REDUCE decisions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4151376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0568" y="4032504"/>
            <a:ext cx="41422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C2330"/>
                </a:solidFill>
                <a:latin typeface="Arial"/>
              </a:rPr>
              <a:t>Correct handle detection</a:t>
            </a:r>
          </a:p>
        </p:txBody>
      </p:sp>
      <p:sp>
        <p:nvSpPr>
          <p:cNvPr id="26" name="Oval 25"/>
          <p:cNvSpPr/>
          <p:nvPr/>
        </p:nvSpPr>
        <p:spPr>
          <a:xfrm>
            <a:off x="6629400" y="4636008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30568" y="4517136"/>
            <a:ext cx="41422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C2330"/>
                </a:solidFill>
                <a:latin typeface="Arial"/>
              </a:rPr>
              <a:t>Production-aware reduction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5120640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30568" y="5001768"/>
            <a:ext cx="4142232" cy="4846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C2330"/>
                </a:solidFill>
                <a:latin typeface="Arial"/>
              </a:rPr>
              <a:t>Detailed ACCEPT / REJECT trace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55648"/>
            <a:ext cx="10972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956816"/>
            <a:ext cx="411480" cy="274320"/>
          </a:xfrm>
          <a:prstGeom prst="roundRect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56816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74519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22A4C"/>
                </a:solidFill>
                <a:latin typeface="Arial"/>
              </a:rPr>
              <a:t>Preserve Review-1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837943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606978"/>
                </a:solidFill>
                <a:latin typeface="Arial"/>
              </a:rPr>
              <a:t>Reuse grammar validation, LEADING/TRAILING, and precedence-table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23744"/>
            <a:ext cx="10972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8680" y="2724912"/>
            <a:ext cx="4114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42615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22A4C"/>
                </a:solidFill>
                <a:latin typeface="Arial"/>
              </a:rPr>
              <a:t>Generalize grammar handling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2606039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606978"/>
                </a:solidFill>
                <a:latin typeface="Arial"/>
              </a:rPr>
              <a:t>Support different non-terminal names and multi-character terminals/non-terminals.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91839"/>
            <a:ext cx="10972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68680" y="3493008"/>
            <a:ext cx="411480" cy="274320"/>
          </a:xfrm>
          <a:prstGeom prst="roundRect">
            <a:avLst/>
          </a:prstGeom>
          <a:solidFill>
            <a:srgbClr val="258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493008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410711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22A4C"/>
                </a:solidFill>
                <a:latin typeface="Arial"/>
              </a:rPr>
              <a:t>Implement full parsing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374135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606978"/>
                </a:solidFill>
                <a:latin typeface="Arial"/>
              </a:rPr>
              <a:t>Perform SHIFT/REDUCE parsing using the generated precedence relations.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59935"/>
            <a:ext cx="10972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4261103"/>
            <a:ext cx="411480" cy="274320"/>
          </a:xfrm>
          <a:prstGeom prst="roundRect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4261103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78807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22A4C"/>
                </a:solidFill>
                <a:latin typeface="Arial"/>
              </a:rPr>
              <a:t>Explain every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4142231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606978"/>
                </a:solidFill>
                <a:latin typeface="Arial"/>
              </a:rPr>
              <a:t>Show stack, input, relation, action, handle, production, and reason.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28031"/>
            <a:ext cx="10972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68680" y="5029199"/>
            <a:ext cx="411480" cy="274320"/>
          </a:xfrm>
          <a:prstGeom prst="roundRect">
            <a:avLst/>
          </a:prstGeom>
          <a:solidFill>
            <a:srgbClr val="BE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029199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4946903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22A4C"/>
                </a:solidFill>
                <a:latin typeface="Arial"/>
              </a:rPr>
              <a:t>Reject safely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910327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606978"/>
                </a:solidFill>
                <a:latin typeface="Arial"/>
              </a:rPr>
              <a:t>Detect unknown tokens, missing relations, conflicts, invalid handles, and parser cycles.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596127"/>
            <a:ext cx="109728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68680" y="5797295"/>
            <a:ext cx="4114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797295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5714999"/>
            <a:ext cx="3017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>
                <a:solidFill>
                  <a:srgbClr val="122A4C"/>
                </a:solidFill>
                <a:latin typeface="Arial"/>
              </a:rPr>
              <a:t>Prepare for final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5678423"/>
            <a:ext cx="6903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606978"/>
                </a:solidFill>
                <a:latin typeface="Arial"/>
              </a:rPr>
              <a:t>Keep RE-to-DFA direct conversion for Review 3.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4. 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Literature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97280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993392"/>
            <a:ext cx="438912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56816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2A4C"/>
                </a:solidFill>
                <a:latin typeface="Arial"/>
              </a:rPr>
              <a:t>Aho, Lam, Sethi &amp; Ullman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9384"/>
            <a:ext cx="65379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Operator-precedence relations and bottom-up parsing provide the theoretical basis for shift/reduce decisions and handle recognition.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27248"/>
            <a:ext cx="10972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3291840"/>
            <a:ext cx="438912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255264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2A4C"/>
                </a:solidFill>
                <a:latin typeface="Arial"/>
              </a:rPr>
              <a:t>Cooper &amp; Torczon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27832"/>
            <a:ext cx="65379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Compiler front ends should separate lexical/token handling from parsing logic, supporting the modular design used in this project.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25696"/>
            <a:ext cx="10972800" cy="11430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4590288"/>
            <a:ext cx="438912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590288"/>
            <a:ext cx="43891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553712"/>
            <a:ext cx="2971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2A4C"/>
                </a:solidFill>
                <a:latin typeface="Arial"/>
              </a:rPr>
              <a:t>Appel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653796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Implementation-oriented compiler construction motivates keeping grammar algorithms independent from the presentation layer.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70448"/>
            <a:ext cx="10424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606978"/>
                </a:solidFill>
                <a:latin typeface="Arial"/>
              </a:rPr>
              <a:t>These sources support the parser theory, modular architecture, and grammar-driven implementation used in Review 2.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5.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Research Gaps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310896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856231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Single-character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28800"/>
            <a:ext cx="6583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606978"/>
                </a:solidFill>
                <a:latin typeface="Arial"/>
              </a:rPr>
              <a:t>Many classroom tools fail on symbols such as Expr, Term, id, num.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78608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807208"/>
            <a:ext cx="310896" cy="274320"/>
          </a:xfrm>
          <a:prstGeom prst="roundRect">
            <a:avLst/>
          </a:prstGeom>
          <a:solidFill>
            <a:srgbClr val="258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807208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697479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Final result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70048"/>
            <a:ext cx="6583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606978"/>
                </a:solidFill>
                <a:latin typeface="Arial"/>
              </a:rPr>
              <a:t>Several implementations show ACCEPT/REJECT without explaining intermediate parsing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19856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3648456"/>
            <a:ext cx="310896" cy="274320"/>
          </a:xfrm>
          <a:prstGeom prst="roundRect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648456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38727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Hard-coded reductions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511296"/>
            <a:ext cx="6583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606978"/>
                </a:solidFill>
                <a:latin typeface="Arial"/>
              </a:rPr>
              <a:t>A parser tied to one expression grammar cannot demonstrate grammar independence.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61104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4489704"/>
            <a:ext cx="310896" cy="274320"/>
          </a:xfrm>
          <a:prstGeom prst="roundRect">
            <a:avLst/>
          </a:prstGeom>
          <a:solidFill>
            <a:srgbClr val="BE3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489704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79976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Weak error reporting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52544"/>
            <a:ext cx="6583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606978"/>
                </a:solidFill>
                <a:latin typeface="Arial"/>
              </a:rPr>
              <a:t>Missing relations, conflicts, unknown tokens, and invalid handles are often not reported precisely.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102352"/>
            <a:ext cx="10972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5330952"/>
            <a:ext cx="310896" cy="274320"/>
          </a:xfrm>
          <a:prstGeom prst="roundRect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33095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21224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Potential infinite loops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193792"/>
            <a:ext cx="6583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606978"/>
                </a:solidFill>
                <a:latin typeface="Arial"/>
              </a:rPr>
              <a:t>Unit productions and repeated reductions can cause non-progressing parser states if not guarded.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6. 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Proposed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06978"/>
                </a:solidFill>
                <a:latin typeface="Arial"/>
              </a:rPr>
              <a:t>Overall methodology • Dataset(s) used • Data collection/preprocessing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984248"/>
            <a:ext cx="1600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A4C"/>
                </a:solidFill>
                <a:latin typeface="Arial"/>
              </a:rPr>
              <a:t>Grammar
Input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85416" y="2359152"/>
            <a:ext cx="228600" cy="0"/>
          </a:xfrm>
          <a:prstGeom prst="line">
            <a:avLst/>
          </a:prstGeom>
          <a:ln w="20320">
            <a:solidFill>
              <a:srgbClr val="91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423160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23160" y="1984248"/>
            <a:ext cx="1600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A4C"/>
                </a:solidFill>
                <a:latin typeface="Arial"/>
              </a:rPr>
              <a:t>Validate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41648" y="2359152"/>
            <a:ext cx="228600" cy="0"/>
          </a:xfrm>
          <a:prstGeom prst="line">
            <a:avLst/>
          </a:prstGeom>
          <a:ln w="20320">
            <a:solidFill>
              <a:srgbClr val="91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79392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984248"/>
            <a:ext cx="1600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A4C"/>
                </a:solidFill>
                <a:latin typeface="Arial"/>
              </a:rPr>
              <a:t>LEADING /
TRAILING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97879" y="2359152"/>
            <a:ext cx="228600" cy="0"/>
          </a:xfrm>
          <a:prstGeom prst="line">
            <a:avLst/>
          </a:prstGeom>
          <a:ln w="20320">
            <a:solidFill>
              <a:srgbClr val="91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35623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35623" y="1984248"/>
            <a:ext cx="1600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A4C"/>
                </a:solidFill>
                <a:latin typeface="Arial"/>
              </a:rPr>
              <a:t>Precedence
Table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54111" y="2359152"/>
            <a:ext cx="228600" cy="0"/>
          </a:xfrm>
          <a:prstGeom prst="line">
            <a:avLst/>
          </a:prstGeom>
          <a:ln w="20320">
            <a:solidFill>
              <a:srgbClr val="91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991855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91855" y="1984248"/>
            <a:ext cx="1600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A4C"/>
                </a:solidFill>
                <a:latin typeface="Arial"/>
              </a:rPr>
              <a:t>Input
Tokenize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10343" y="2359152"/>
            <a:ext cx="228600" cy="0"/>
          </a:xfrm>
          <a:prstGeom prst="line">
            <a:avLst/>
          </a:prstGeom>
          <a:ln w="20320">
            <a:solidFill>
              <a:srgbClr val="919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848087" y="1874519"/>
            <a:ext cx="16002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48087" y="1984248"/>
            <a:ext cx="16002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122A4C"/>
                </a:solidFill>
                <a:latin typeface="Arial"/>
              </a:rPr>
              <a:t>Parse &amp;
Trace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37560"/>
            <a:ext cx="342900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7552" y="3566160"/>
            <a:ext cx="2194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2A4C"/>
                </a:solidFill>
                <a:latin typeface="Arial"/>
              </a:rPr>
              <a:t>Overall methodology</a:t>
            </a:r>
          </a:p>
        </p:txBody>
      </p:sp>
      <p:sp>
        <p:nvSpPr>
          <p:cNvPr id="26" name="Oval 25"/>
          <p:cNvSpPr/>
          <p:nvPr/>
        </p:nvSpPr>
        <p:spPr>
          <a:xfrm>
            <a:off x="987552" y="4096511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88720" y="3977639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Grammar-driven pipeline</a:t>
            </a:r>
          </a:p>
        </p:txBody>
      </p:sp>
      <p:sp>
        <p:nvSpPr>
          <p:cNvPr id="28" name="Oval 27"/>
          <p:cNvSpPr/>
          <p:nvPr/>
        </p:nvSpPr>
        <p:spPr>
          <a:xfrm>
            <a:off x="987552" y="4480559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4361688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Stage-gated processing</a:t>
            </a:r>
          </a:p>
        </p:txBody>
      </p:sp>
      <p:sp>
        <p:nvSpPr>
          <p:cNvPr id="30" name="Oval 29"/>
          <p:cNvSpPr/>
          <p:nvPr/>
        </p:nvSpPr>
        <p:spPr>
          <a:xfrm>
            <a:off x="987552" y="4864607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4745736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Step logs for visualization</a:t>
            </a:r>
          </a:p>
        </p:txBody>
      </p:sp>
      <p:sp>
        <p:nvSpPr>
          <p:cNvPr id="32" name="Oval 31"/>
          <p:cNvSpPr/>
          <p:nvPr/>
        </p:nvSpPr>
        <p:spPr>
          <a:xfrm>
            <a:off x="987552" y="5248655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88720" y="5129783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Exact error reporting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337560"/>
            <a:ext cx="3429000" cy="205740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02752" y="3566160"/>
            <a:ext cx="1828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22A4C"/>
                </a:solidFill>
                <a:latin typeface="Arial"/>
              </a:rPr>
              <a:t>Preprocessing</a:t>
            </a:r>
          </a:p>
        </p:txBody>
      </p:sp>
      <p:sp>
        <p:nvSpPr>
          <p:cNvPr id="39" name="Oval 38"/>
          <p:cNvSpPr/>
          <p:nvPr/>
        </p:nvSpPr>
        <p:spPr>
          <a:xfrm>
            <a:off x="8302752" y="4096511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3977639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Normalize grammar notation</a:t>
            </a:r>
          </a:p>
        </p:txBody>
      </p:sp>
      <p:sp>
        <p:nvSpPr>
          <p:cNvPr id="41" name="Oval 40"/>
          <p:cNvSpPr/>
          <p:nvPr/>
        </p:nvSpPr>
        <p:spPr>
          <a:xfrm>
            <a:off x="8302752" y="4480559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4361688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Tokenize RHS symbols</a:t>
            </a:r>
          </a:p>
        </p:txBody>
      </p:sp>
      <p:sp>
        <p:nvSpPr>
          <p:cNvPr id="43" name="Oval 42"/>
          <p:cNvSpPr/>
          <p:nvPr/>
        </p:nvSpPr>
        <p:spPr>
          <a:xfrm>
            <a:off x="8302752" y="4864607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03920" y="4745736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Extract terminals/non-terminals</a:t>
            </a:r>
          </a:p>
        </p:txBody>
      </p:sp>
      <p:sp>
        <p:nvSpPr>
          <p:cNvPr id="45" name="Oval 44"/>
          <p:cNvSpPr/>
          <p:nvPr/>
        </p:nvSpPr>
        <p:spPr>
          <a:xfrm>
            <a:off x="8302752" y="5248655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503920" y="5129783"/>
            <a:ext cx="25420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Longest-match input tokenization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7. SYSTEM / 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System / Model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06978"/>
                </a:solidFill>
                <a:latin typeface="Arial"/>
              </a:rPr>
              <a:t>Architecture diagram and workflow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2423160"/>
            <a:ext cx="0" cy="192024"/>
          </a:xfrm>
          <a:prstGeom prst="line">
            <a:avLst/>
          </a:prstGeom>
          <a:ln w="17780">
            <a:solidFill>
              <a:srgbClr val="96A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28800" y="2615184"/>
            <a:ext cx="85039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993392" y="2807208"/>
            <a:ext cx="310896" cy="274320"/>
          </a:xfrm>
          <a:prstGeom prst="roundRect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93392" y="2807208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706624"/>
            <a:ext cx="2331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22A4C"/>
                </a:solidFill>
                <a:latin typeface="Arial"/>
              </a:rPr>
              <a:t>GRAMMAR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688336"/>
            <a:ext cx="5120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606978"/>
                </a:solidFill>
                <a:latin typeface="Arial"/>
              </a:rPr>
              <a:t>Tokenizer • Validator • Symbol extraction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3300984"/>
            <a:ext cx="0" cy="192024"/>
          </a:xfrm>
          <a:prstGeom prst="line">
            <a:avLst/>
          </a:prstGeom>
          <a:ln w="17780">
            <a:solidFill>
              <a:srgbClr val="96A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828800" y="3493008"/>
            <a:ext cx="85039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993392" y="3685032"/>
            <a:ext cx="310896" cy="274320"/>
          </a:xfrm>
          <a:prstGeom prst="roundRect">
            <a:avLst/>
          </a:prstGeom>
          <a:solidFill>
            <a:srgbClr val="258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93392" y="3685032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87168" y="3584448"/>
            <a:ext cx="2331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22A4C"/>
                </a:solidFill>
                <a:latin typeface="Arial"/>
              </a:rPr>
              <a:t>PRECEDENCE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566160"/>
            <a:ext cx="5120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606978"/>
                </a:solidFill>
                <a:latin typeface="Arial"/>
              </a:rPr>
              <a:t>LEADING • TRAILING • Relation table • Conflict detection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80760" y="4178808"/>
            <a:ext cx="0" cy="192023"/>
          </a:xfrm>
          <a:prstGeom prst="line">
            <a:avLst/>
          </a:prstGeom>
          <a:ln w="17780">
            <a:solidFill>
              <a:srgbClr val="96A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828800" y="4370831"/>
            <a:ext cx="85039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993392" y="4562855"/>
            <a:ext cx="310896" cy="274320"/>
          </a:xfrm>
          <a:prstGeom prst="roundRect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993392" y="4562855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4462271"/>
            <a:ext cx="2331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22A4C"/>
                </a:solidFill>
                <a:latin typeface="Arial"/>
              </a:rPr>
              <a:t>PARSER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4443983"/>
            <a:ext cx="5120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606978"/>
                </a:solidFill>
                <a:latin typeface="Arial"/>
              </a:rPr>
              <a:t>Input tokenizer • Topmost terminal • Handle finder • Production matcher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760" y="5056631"/>
            <a:ext cx="0" cy="192024"/>
          </a:xfrm>
          <a:prstGeom prst="line">
            <a:avLst/>
          </a:prstGeom>
          <a:ln w="17780">
            <a:solidFill>
              <a:srgbClr val="96A0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28800" y="5248655"/>
            <a:ext cx="8503920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993392" y="5440679"/>
            <a:ext cx="310896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93392" y="5440679"/>
            <a:ext cx="310896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5340095"/>
            <a:ext cx="2331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1">
                <a:solidFill>
                  <a:srgbClr val="122A4C"/>
                </a:solidFill>
                <a:latin typeface="Arial"/>
              </a:rPr>
              <a:t>RESULT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5321807"/>
            <a:ext cx="51206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606978"/>
                </a:solidFill>
                <a:latin typeface="Arial"/>
              </a:rPr>
              <a:t>Trace table • Explanation • ACCEPT / REJECT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7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3CD19FC-3DCB-C1DB-2EFE-5E554ED64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84" y="1645920"/>
            <a:ext cx="969755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8.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06978"/>
                </a:solidFill>
                <a:latin typeface="Arial"/>
              </a:rPr>
              <a:t>Tools and technologies used • Important implementation details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246120" cy="438912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286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C"/>
                </a:solidFill>
                <a:latin typeface="Arial"/>
              </a:rPr>
              <a:t>Tools &amp; technologies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2523744"/>
            <a:ext cx="8686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523744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2514600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UI components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054096"/>
            <a:ext cx="8686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054096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044952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Build/dev server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3584448"/>
            <a:ext cx="8686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58444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JavaScript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357530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Compiler algorithms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4114800"/>
            <a:ext cx="8686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114800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4105656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Styling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" y="4645152"/>
            <a:ext cx="8686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645152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Vitest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4636008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1C2330"/>
                </a:solidFill>
                <a:latin typeface="Arial"/>
              </a:rPr>
              <a:t>Unit testing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1783080"/>
            <a:ext cx="36576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201168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C"/>
                </a:solidFill>
                <a:latin typeface="Arial"/>
              </a:rPr>
              <a:t>Implemented and verified</a:t>
            </a:r>
          </a:p>
        </p:txBody>
      </p:sp>
      <p:sp>
        <p:nvSpPr>
          <p:cNvPr id="26" name="Oval 25"/>
          <p:cNvSpPr/>
          <p:nvPr/>
        </p:nvSpPr>
        <p:spPr>
          <a:xfrm>
            <a:off x="4434840" y="2606040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7" y="2487168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Grammar input + start symbol</a:t>
            </a:r>
          </a:p>
        </p:txBody>
      </p:sp>
      <p:sp>
        <p:nvSpPr>
          <p:cNvPr id="28" name="Oval 27"/>
          <p:cNvSpPr/>
          <p:nvPr/>
        </p:nvSpPr>
        <p:spPr>
          <a:xfrm>
            <a:off x="4434840" y="3044952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36007" y="2926080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Operator-grammar validation</a:t>
            </a:r>
          </a:p>
        </p:txBody>
      </p:sp>
      <p:sp>
        <p:nvSpPr>
          <p:cNvPr id="30" name="Oval 29"/>
          <p:cNvSpPr/>
          <p:nvPr/>
        </p:nvSpPr>
        <p:spPr>
          <a:xfrm>
            <a:off x="4434840" y="3483864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36007" y="3364992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LEADING computation</a:t>
            </a:r>
          </a:p>
        </p:txBody>
      </p:sp>
      <p:sp>
        <p:nvSpPr>
          <p:cNvPr id="32" name="Oval 31"/>
          <p:cNvSpPr/>
          <p:nvPr/>
        </p:nvSpPr>
        <p:spPr>
          <a:xfrm>
            <a:off x="4434840" y="3922776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36007" y="3803904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TRAILING computation</a:t>
            </a:r>
          </a:p>
        </p:txBody>
      </p:sp>
      <p:sp>
        <p:nvSpPr>
          <p:cNvPr id="34" name="Oval 33"/>
          <p:cNvSpPr/>
          <p:nvPr/>
        </p:nvSpPr>
        <p:spPr>
          <a:xfrm>
            <a:off x="4434840" y="4361688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36007" y="4242816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Step-by-step set visualization</a:t>
            </a:r>
          </a:p>
        </p:txBody>
      </p:sp>
      <p:sp>
        <p:nvSpPr>
          <p:cNvPr id="36" name="Oval 35"/>
          <p:cNvSpPr/>
          <p:nvPr/>
        </p:nvSpPr>
        <p:spPr>
          <a:xfrm>
            <a:off x="4434840" y="4800600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36007" y="4681728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Precedence-table construction</a:t>
            </a:r>
          </a:p>
        </p:txBody>
      </p:sp>
      <p:sp>
        <p:nvSpPr>
          <p:cNvPr id="38" name="Oval 37"/>
          <p:cNvSpPr/>
          <p:nvPr/>
        </p:nvSpPr>
        <p:spPr>
          <a:xfrm>
            <a:off x="4434840" y="5239512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36007" y="5120640"/>
            <a:ext cx="2679191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Conflict detection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74152" y="1783080"/>
            <a:ext cx="3474720" cy="4389120"/>
          </a:xfrm>
          <a:prstGeom prst="roundRect">
            <a:avLst/>
          </a:prstGeom>
          <a:solidFill>
            <a:srgbClr val="E8EFFB"/>
          </a:solidFill>
          <a:ln w="1270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48472" y="2011680"/>
            <a:ext cx="2468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22A4C"/>
                </a:solidFill>
                <a:latin typeface="Arial"/>
              </a:rPr>
              <a:t>Review 2 extension</a:t>
            </a:r>
          </a:p>
        </p:txBody>
      </p:sp>
      <p:sp>
        <p:nvSpPr>
          <p:cNvPr id="42" name="Oval 41"/>
          <p:cNvSpPr/>
          <p:nvPr/>
        </p:nvSpPr>
        <p:spPr>
          <a:xfrm>
            <a:off x="8348472" y="2606040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49640" y="2487168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Generic input tokenization</a:t>
            </a:r>
          </a:p>
        </p:txBody>
      </p:sp>
      <p:sp>
        <p:nvSpPr>
          <p:cNvPr id="44" name="Oval 43"/>
          <p:cNvSpPr/>
          <p:nvPr/>
        </p:nvSpPr>
        <p:spPr>
          <a:xfrm>
            <a:off x="8348472" y="3044952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49640" y="2926080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SHIFT / REDUCE engine</a:t>
            </a:r>
          </a:p>
        </p:txBody>
      </p:sp>
      <p:sp>
        <p:nvSpPr>
          <p:cNvPr id="46" name="Oval 45"/>
          <p:cNvSpPr/>
          <p:nvPr/>
        </p:nvSpPr>
        <p:spPr>
          <a:xfrm>
            <a:off x="8348472" y="3483864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49640" y="3364992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Handle boundary detection</a:t>
            </a:r>
          </a:p>
        </p:txBody>
      </p:sp>
      <p:sp>
        <p:nvSpPr>
          <p:cNvPr id="48" name="Oval 47"/>
          <p:cNvSpPr/>
          <p:nvPr/>
        </p:nvSpPr>
        <p:spPr>
          <a:xfrm>
            <a:off x="8348472" y="3922776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549640" y="3803904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Production matching</a:t>
            </a:r>
          </a:p>
        </p:txBody>
      </p:sp>
      <p:sp>
        <p:nvSpPr>
          <p:cNvPr id="50" name="Oval 49"/>
          <p:cNvSpPr/>
          <p:nvPr/>
        </p:nvSpPr>
        <p:spPr>
          <a:xfrm>
            <a:off x="8348472" y="4361688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549640" y="4242816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Parsing trace</a:t>
            </a:r>
          </a:p>
        </p:txBody>
      </p:sp>
      <p:sp>
        <p:nvSpPr>
          <p:cNvPr id="52" name="Oval 51"/>
          <p:cNvSpPr/>
          <p:nvPr/>
        </p:nvSpPr>
        <p:spPr>
          <a:xfrm>
            <a:off x="8348472" y="4800600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549640" y="4681728"/>
            <a:ext cx="254203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Cycle protection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9. RESULTS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Results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06978"/>
                </a:solidFill>
                <a:latin typeface="Arial"/>
              </a:rPr>
              <a:t>Results obtained so far • Screenshots • Test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55648"/>
            <a:ext cx="3675887" cy="4251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93852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Valid grammar</a:t>
            </a:r>
          </a:p>
        </p:txBody>
      </p:sp>
      <p:pic>
        <p:nvPicPr>
          <p:cNvPr id="9" name="Picture 8" descr="valid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248" y="2267711"/>
            <a:ext cx="2473822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892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06978"/>
                </a:solidFill>
                <a:latin typeface="Arial"/>
              </a:rPr>
              <a:t>Validation passes; later stages become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755648"/>
            <a:ext cx="3675887" cy="4251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938528"/>
            <a:ext cx="1737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Precedence table</a:t>
            </a:r>
          </a:p>
        </p:txBody>
      </p:sp>
      <p:pic>
        <p:nvPicPr>
          <p:cNvPr id="13" name="Picture 12" descr="valid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717" y="2267712"/>
            <a:ext cx="3033285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09160" y="4892040"/>
            <a:ext cx="30175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06978"/>
                </a:solidFill>
                <a:latin typeface="Arial"/>
              </a:rPr>
              <a:t>Table generated with a conflict-free grammar verdict.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39327" y="1755648"/>
            <a:ext cx="3246120" cy="42519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77072" y="1938528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22A4C"/>
                </a:solidFill>
                <a:latin typeface="Arial"/>
              </a:rPr>
              <a:t>Invalid grammar</a:t>
            </a:r>
          </a:p>
        </p:txBody>
      </p:sp>
      <p:pic>
        <p:nvPicPr>
          <p:cNvPr id="17" name="Picture 16" descr="invalid_adja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928" y="2605268"/>
            <a:ext cx="2788919" cy="17023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577072" y="4892040"/>
            <a:ext cx="2697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606978"/>
                </a:solidFill>
                <a:latin typeface="Arial"/>
              </a:rPr>
              <a:t>S → AB is rejected because adjacent non-terminals are not allowed.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10. PROJECT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Project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972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606978"/>
                </a:solidFill>
                <a:latin typeface="Arial"/>
              </a:rPr>
              <a:t>Work completed • Work currently in progress • Remaining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783080"/>
            <a:ext cx="3657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0392" y="1993392"/>
            <a:ext cx="2011680" cy="274320"/>
          </a:xfrm>
          <a:prstGeom prst="roundRect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933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WORK COMPLETED</a:t>
            </a:r>
          </a:p>
        </p:txBody>
      </p:sp>
      <p:sp>
        <p:nvSpPr>
          <p:cNvPr id="10" name="Oval 9"/>
          <p:cNvSpPr/>
          <p:nvPr/>
        </p:nvSpPr>
        <p:spPr>
          <a:xfrm>
            <a:off x="877824" y="2734056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2615184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Grammar parser</a:t>
            </a:r>
          </a:p>
        </p:txBody>
      </p:sp>
      <p:sp>
        <p:nvSpPr>
          <p:cNvPr id="12" name="Oval 11"/>
          <p:cNvSpPr/>
          <p:nvPr/>
        </p:nvSpPr>
        <p:spPr>
          <a:xfrm>
            <a:off x="877824" y="3163824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044952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Operator grammar validation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" y="3593591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" y="3474720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LEADING / TRAILING</a:t>
            </a:r>
          </a:p>
        </p:txBody>
      </p:sp>
      <p:sp>
        <p:nvSpPr>
          <p:cNvPr id="16" name="Oval 15"/>
          <p:cNvSpPr/>
          <p:nvPr/>
        </p:nvSpPr>
        <p:spPr>
          <a:xfrm>
            <a:off x="877824" y="4023359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3904487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Step-by-step set visualization</a:t>
            </a:r>
          </a:p>
        </p:txBody>
      </p:sp>
      <p:sp>
        <p:nvSpPr>
          <p:cNvPr id="18" name="Oval 17"/>
          <p:cNvSpPr/>
          <p:nvPr/>
        </p:nvSpPr>
        <p:spPr>
          <a:xfrm>
            <a:off x="877824" y="4453127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78992" y="4334255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Precedence-table construction</a:t>
            </a:r>
          </a:p>
        </p:txBody>
      </p:sp>
      <p:sp>
        <p:nvSpPr>
          <p:cNvPr id="20" name="Oval 19"/>
          <p:cNvSpPr/>
          <p:nvPr/>
        </p:nvSpPr>
        <p:spPr>
          <a:xfrm>
            <a:off x="877824" y="4882895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" y="4764023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Conflict detection</a:t>
            </a:r>
          </a:p>
        </p:txBody>
      </p:sp>
      <p:sp>
        <p:nvSpPr>
          <p:cNvPr id="22" name="Oval 21"/>
          <p:cNvSpPr/>
          <p:nvPr/>
        </p:nvSpPr>
        <p:spPr>
          <a:xfrm>
            <a:off x="877824" y="5312663"/>
            <a:ext cx="82296" cy="82296"/>
          </a:xfrm>
          <a:prstGeom prst="ellipse">
            <a:avLst/>
          </a:prstGeom>
          <a:solidFill>
            <a:srgbClr val="1F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5193791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Multiple Review-1 test cases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9704" y="1783080"/>
            <a:ext cx="3657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4718304" y="1993392"/>
            <a:ext cx="2011680" cy="274320"/>
          </a:xfrm>
          <a:prstGeom prst="roundRect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18304" y="19933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CURRENTLY IN PROGRESS</a:t>
            </a:r>
          </a:p>
        </p:txBody>
      </p:sp>
      <p:sp>
        <p:nvSpPr>
          <p:cNvPr id="27" name="Oval 26"/>
          <p:cNvSpPr/>
          <p:nvPr/>
        </p:nvSpPr>
        <p:spPr>
          <a:xfrm>
            <a:off x="4745736" y="2734056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46904" y="2615184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Generic input tokenization</a:t>
            </a:r>
          </a:p>
        </p:txBody>
      </p:sp>
      <p:sp>
        <p:nvSpPr>
          <p:cNvPr id="29" name="Oval 28"/>
          <p:cNvSpPr/>
          <p:nvPr/>
        </p:nvSpPr>
        <p:spPr>
          <a:xfrm>
            <a:off x="4745736" y="3163824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46904" y="3044952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SHIFT / REDUCE parser</a:t>
            </a:r>
          </a:p>
        </p:txBody>
      </p:sp>
      <p:sp>
        <p:nvSpPr>
          <p:cNvPr id="31" name="Oval 30"/>
          <p:cNvSpPr/>
          <p:nvPr/>
        </p:nvSpPr>
        <p:spPr>
          <a:xfrm>
            <a:off x="4745736" y="3593591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46904" y="3474720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Handle detection</a:t>
            </a:r>
          </a:p>
        </p:txBody>
      </p:sp>
      <p:sp>
        <p:nvSpPr>
          <p:cNvPr id="33" name="Oval 32"/>
          <p:cNvSpPr/>
          <p:nvPr/>
        </p:nvSpPr>
        <p:spPr>
          <a:xfrm>
            <a:off x="4745736" y="4023359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46904" y="3904487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Production matching</a:t>
            </a:r>
          </a:p>
        </p:txBody>
      </p:sp>
      <p:sp>
        <p:nvSpPr>
          <p:cNvPr id="35" name="Oval 34"/>
          <p:cNvSpPr/>
          <p:nvPr/>
        </p:nvSpPr>
        <p:spPr>
          <a:xfrm>
            <a:off x="4745736" y="4453127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46904" y="4334255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Parser trace UI</a:t>
            </a:r>
          </a:p>
        </p:txBody>
      </p:sp>
      <p:sp>
        <p:nvSpPr>
          <p:cNvPr id="37" name="Oval 36"/>
          <p:cNvSpPr/>
          <p:nvPr/>
        </p:nvSpPr>
        <p:spPr>
          <a:xfrm>
            <a:off x="4745736" y="4882895"/>
            <a:ext cx="82296" cy="82296"/>
          </a:xfrm>
          <a:prstGeom prst="ellipse">
            <a:avLst/>
          </a:prstGeom>
          <a:solidFill>
            <a:srgbClr val="2658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46904" y="4764023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Additional edge-case tests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57616" y="1783080"/>
            <a:ext cx="3657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9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586216" y="1993392"/>
            <a:ext cx="2011680" cy="274320"/>
          </a:xfrm>
          <a:prstGeom prst="roundRect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86216" y="199339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REMAINING WORK</a:t>
            </a:r>
          </a:p>
        </p:txBody>
      </p:sp>
      <p:sp>
        <p:nvSpPr>
          <p:cNvPr id="42" name="Oval 41"/>
          <p:cNvSpPr/>
          <p:nvPr/>
        </p:nvSpPr>
        <p:spPr>
          <a:xfrm>
            <a:off x="8613648" y="2734056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14816" y="2615184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Complete Review-2 parser verification</a:t>
            </a:r>
          </a:p>
        </p:txBody>
      </p:sp>
      <p:sp>
        <p:nvSpPr>
          <p:cNvPr id="44" name="Oval 43"/>
          <p:cNvSpPr/>
          <p:nvPr/>
        </p:nvSpPr>
        <p:spPr>
          <a:xfrm>
            <a:off x="8613648" y="3163824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814816" y="3044952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Insert actual parser screenshots</a:t>
            </a:r>
          </a:p>
        </p:txBody>
      </p:sp>
      <p:sp>
        <p:nvSpPr>
          <p:cNvPr id="46" name="Oval 45"/>
          <p:cNvSpPr/>
          <p:nvPr/>
        </p:nvSpPr>
        <p:spPr>
          <a:xfrm>
            <a:off x="8613648" y="3593591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814816" y="3474720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RE syntax tree</a:t>
            </a:r>
          </a:p>
        </p:txBody>
      </p:sp>
      <p:sp>
        <p:nvSpPr>
          <p:cNvPr id="48" name="Oval 47"/>
          <p:cNvSpPr/>
          <p:nvPr/>
        </p:nvSpPr>
        <p:spPr>
          <a:xfrm>
            <a:off x="8613648" y="4023359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14816" y="3904487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nullable / firstpos / lastpos</a:t>
            </a:r>
          </a:p>
        </p:txBody>
      </p:sp>
      <p:sp>
        <p:nvSpPr>
          <p:cNvPr id="50" name="Oval 49"/>
          <p:cNvSpPr/>
          <p:nvPr/>
        </p:nvSpPr>
        <p:spPr>
          <a:xfrm>
            <a:off x="8613648" y="4453127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14816" y="4334255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followpos</a:t>
            </a:r>
          </a:p>
        </p:txBody>
      </p:sp>
      <p:sp>
        <p:nvSpPr>
          <p:cNvPr id="52" name="Oval 51"/>
          <p:cNvSpPr/>
          <p:nvPr/>
        </p:nvSpPr>
        <p:spPr>
          <a:xfrm>
            <a:off x="8613648" y="4882895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814816" y="4764023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Direct DFA construction</a:t>
            </a:r>
          </a:p>
        </p:txBody>
      </p:sp>
      <p:sp>
        <p:nvSpPr>
          <p:cNvPr id="54" name="Oval 53"/>
          <p:cNvSpPr/>
          <p:nvPr/>
        </p:nvSpPr>
        <p:spPr>
          <a:xfrm>
            <a:off x="8613648" y="5312663"/>
            <a:ext cx="82296" cy="82296"/>
          </a:xfrm>
          <a:prstGeom prst="ellipse">
            <a:avLst/>
          </a:prstGeom>
          <a:solidFill>
            <a:srgbClr val="DC9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14816" y="5193791"/>
            <a:ext cx="2862072" cy="4297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70" b="0">
                <a:solidFill>
                  <a:srgbClr val="1C2330"/>
                </a:solidFill>
                <a:latin typeface="Arial"/>
              </a:rPr>
              <a:t>Final integration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11.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83080"/>
            <a:ext cx="10744200" cy="1920240"/>
          </a:xfrm>
          <a:prstGeom prst="roundRect">
            <a:avLst/>
          </a:prstGeom>
          <a:solidFill>
            <a:srgbClr val="E8EFFB"/>
          </a:solidFill>
          <a:ln w="1270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95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22A4C"/>
                </a:solidFill>
                <a:latin typeface="Arial"/>
              </a:rPr>
              <a:t>Review 2 extends the project from precedence-table generation toward a complete grammar-driven operator-precedence parser.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100584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1C2330"/>
                </a:solidFill>
                <a:latin typeface="Arial"/>
              </a:rPr>
              <a:t>The design preserves the verified Review-1 modules and adds generic tokenization, SHIFT/REDUCE logic, handle detection, production matching, detailed trace generation, and safe rejection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5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4370832"/>
            <a:ext cx="3154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658AB"/>
                </a:solidFill>
                <a:latin typeface="Arial"/>
              </a:rPr>
              <a:t>Generic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4736592"/>
            <a:ext cx="2788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06978"/>
                </a:solidFill>
                <a:latin typeface="Arial"/>
              </a:rPr>
              <a:t>Not tied to E/T/F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8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4370832"/>
            <a:ext cx="3154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5847D"/>
                </a:solidFill>
                <a:latin typeface="Arial"/>
              </a:rPr>
              <a:t>Explainable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4736592"/>
            <a:ext cx="2788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06978"/>
                </a:solidFill>
                <a:latin typeface="Arial"/>
              </a:rPr>
              <a:t>Every decision is traceable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420624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4370832"/>
            <a:ext cx="31546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F8754"/>
                </a:solidFill>
                <a:latin typeface="Arial"/>
              </a:rPr>
              <a:t>Safe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736592"/>
            <a:ext cx="2788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606978"/>
                </a:solidFill>
                <a:latin typeface="Arial"/>
              </a:rPr>
              <a:t>Invalid/conflicting grammars are blocked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99669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1">
                <a:solidFill>
                  <a:srgbClr val="122A4C"/>
                </a:solidFill>
                <a:latin typeface="Arial"/>
              </a:rPr>
              <a:t>Final Review 3 milestone: complete RE → DFA direct method and integrate both branches.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22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2743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2658AB"/>
                </a:solidFill>
                <a:latin typeface="Arial"/>
              </a:rPr>
              <a:t>12.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86384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22A4C"/>
                </a:solidFill>
                <a:latin typeface="Arial"/>
              </a:rPr>
              <a:t>References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6132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993392"/>
            <a:ext cx="10012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[1] Aho, A. V., Lam, M. S., Sethi, R., &amp; Ullman, J. D. (2006). Compilers: Principles, Techniques, and Tools (2nd ed.). Addison-Wesley.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63240"/>
            <a:ext cx="10561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3227832"/>
            <a:ext cx="10012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[2] Cooper, K. D., &amp; Torczon, L. (2011). Engineering a Compiler (2nd ed.). Morgan Kaufmann.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297680"/>
            <a:ext cx="10561320" cy="1051560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462272"/>
            <a:ext cx="100126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1C2330"/>
                </a:solidFill>
                <a:latin typeface="Arial"/>
              </a:rPr>
              <a:t>[3] Appel, A. W. (2002). Modern Compiler Implementation in Java (2nd ed.). Cambridge University Press.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669280"/>
            <a:ext cx="10561320" cy="566928"/>
          </a:xfrm>
          <a:prstGeom prst="roundRect">
            <a:avLst/>
          </a:prstGeom>
          <a:solidFill>
            <a:srgbClr val="E8EFFB"/>
          </a:solidFill>
          <a:ln w="12700">
            <a:solidFill>
              <a:srgbClr val="E8EF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788152"/>
            <a:ext cx="10149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606978"/>
                </a:solidFill>
                <a:latin typeface="Arial"/>
              </a:rPr>
              <a:t>All references are presented in APA-style book format, consistent with the report template.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28232"/>
            <a:ext cx="10972800" cy="9144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41148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750" b="1">
                <a:solidFill>
                  <a:srgbClr val="606978"/>
                </a:solidFill>
                <a:latin typeface="Arial"/>
              </a:rPr>
              <a:t>PROJECT 8  •  BCSE307P  • 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1148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750" b="1">
                <a:solidFill>
                  <a:srgbClr val="60697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1052</Words>
  <Application>Microsoft Office PowerPoint</Application>
  <PresentationFormat>Widescreen</PresentationFormat>
  <Paragraphs>209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Samriddhi Tiwary</cp:lastModifiedBy>
  <cp:revision>6</cp:revision>
  <dcterms:created xsi:type="dcterms:W3CDTF">2013-01-27T09:14:16Z</dcterms:created>
  <dcterms:modified xsi:type="dcterms:W3CDTF">2026-10-13T06:45:46Z</dcterms:modified>
  <cp:category/>
</cp:coreProperties>
</file>